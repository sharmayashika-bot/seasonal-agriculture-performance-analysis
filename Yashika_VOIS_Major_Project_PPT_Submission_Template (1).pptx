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110749"/>
            <a:ext cx="10726052" cy="1173627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sz="3200" dirty="0"/>
              <a:t>Seasonal Agriculture Performance Analysis </a:t>
            </a:r>
            <a:br>
              <a:rPr lang="en-IN" sz="3200" dirty="0"/>
            </a:br>
            <a:r>
              <a:rPr lang="en-US" sz="3200" dirty="0"/>
              <a:t>Student Name- Yashika</a:t>
            </a:r>
            <a:br>
              <a:rPr lang="en-IN" sz="3200" dirty="0"/>
            </a:br>
            <a:br>
              <a:rPr lang="en-IN" sz="3200" dirty="0"/>
            </a:br>
            <a:r>
              <a:rPr lang="en-US" sz="3200" dirty="0"/>
              <a:t>College Name- Sri Guru Tegh Bahadur Institute of Management and Information Technology(GGSIPU)</a:t>
            </a:r>
            <a:br>
              <a:rPr lang="en-IN" sz="3200" dirty="0"/>
            </a:br>
            <a:br>
              <a:rPr lang="en-IN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669775"/>
            <a:ext cx="593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STU6a364fc0e1d141781944256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lvl="0"/>
            <a:r>
              <a:rPr lang="en-IN" b="1" dirty="0"/>
              <a:t>Context:</a:t>
            </a:r>
            <a:r>
              <a:rPr lang="en-IN" dirty="0"/>
              <a:t> Agricultural productivity and profits fluctuate heavily across seasons due to changing weather conditions, water availability, and market prices. </a:t>
            </a:r>
          </a:p>
          <a:p>
            <a:pPr lvl="0"/>
            <a:r>
              <a:rPr lang="en-IN" b="1" dirty="0"/>
              <a:t>Core Challenge:</a:t>
            </a:r>
            <a:r>
              <a:rPr lang="en-IN" dirty="0"/>
              <a:t> Raw agricultural datasets contain multidimensional variables (soil pH, moisture, rainfall, fertilizer, costs) that are difficult to interpret without systematic analytics. </a:t>
            </a:r>
          </a:p>
          <a:p>
            <a:pPr lvl="0"/>
            <a:r>
              <a:rPr lang="en-IN" b="1" dirty="0"/>
              <a:t>Objective:</a:t>
            </a:r>
            <a:r>
              <a:rPr lang="en-IN" dirty="0"/>
              <a:t> Conduct an end-to-end data analytics study to identify seasonal performance trends, evaluate irrigation efficiency, </a:t>
            </a:r>
            <a:r>
              <a:rPr lang="en-IN" dirty="0" err="1"/>
              <a:t>analyze</a:t>
            </a:r>
            <a:r>
              <a:rPr lang="en-IN" dirty="0"/>
              <a:t> disease risk factors, and determine key drivers of net profit.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54" y="0"/>
            <a:ext cx="9006115" cy="5738327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IN" sz="2700" dirty="0"/>
              <a:t>Overview: </a:t>
            </a:r>
            <a:r>
              <a:rPr lang="en-IN" sz="2700" b="0" dirty="0"/>
              <a:t>A Python-based Data Analytics project evaluating seasonal crop yield, operational expenditures, and revenue metrics. </a:t>
            </a:r>
            <a:br>
              <a:rPr lang="en-IN" sz="2700" dirty="0"/>
            </a:br>
            <a:r>
              <a:rPr lang="en-IN" sz="2700" dirty="0"/>
              <a:t>Dataset Scale: </a:t>
            </a:r>
            <a:r>
              <a:rPr lang="en-IN" sz="2700" b="0" dirty="0"/>
              <a:t>4,000 distinct farm records across 28 analytical features. </a:t>
            </a:r>
            <a:br>
              <a:rPr lang="en-IN" sz="2700" b="0" dirty="0"/>
            </a:br>
            <a:r>
              <a:rPr lang="en-IN" sz="2700" dirty="0"/>
              <a:t>Key Analytical Phases:</a:t>
            </a:r>
            <a:br>
              <a:rPr lang="en-IN" sz="2700" dirty="0"/>
            </a:br>
            <a:r>
              <a:rPr lang="en-IN" sz="2700" dirty="0"/>
              <a:t>.</a:t>
            </a:r>
            <a:r>
              <a:rPr lang="en-IN" sz="2700" b="0" dirty="0"/>
              <a:t>Data Cleaning &amp; Imputation (handling missing values in   environmental metrics).</a:t>
            </a:r>
            <a:br>
              <a:rPr lang="en-IN" sz="2700" b="0" dirty="0"/>
            </a:br>
            <a:r>
              <a:rPr lang="en-IN" sz="2700" b="0" dirty="0"/>
              <a:t>.Univariate &amp; Bivariate Exploratory Data Analysis (EDA). </a:t>
            </a:r>
            <a:br>
              <a:rPr lang="en-IN" sz="2700" b="0" dirty="0"/>
            </a:br>
            <a:r>
              <a:rPr lang="en-IN" sz="2700" b="0" dirty="0"/>
              <a:t>.Seasonal Performance &amp; Efficiency Comparisons. </a:t>
            </a:r>
            <a:br>
              <a:rPr lang="en-IN" sz="2700" b="0" dirty="0"/>
            </a:br>
            <a:r>
              <a:rPr lang="en-IN" sz="2700" b="0" dirty="0"/>
              <a:t>.Correlation Matrix &amp; Factor Identification. </a:t>
            </a:r>
            <a:br>
              <a:rPr lang="en-IN" sz="2700" b="0" dirty="0"/>
            </a:br>
            <a:endParaRPr lang="en-IN" sz="27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Agricultural Policy Makers:</a:t>
            </a:r>
            <a:r>
              <a:rPr lang="en-IN" dirty="0"/>
              <a:t> To design targeted crop subsidies, regional water allocation plans, and seasonal farm relief programs. </a:t>
            </a:r>
          </a:p>
          <a:p>
            <a:pPr lvl="0"/>
            <a:r>
              <a:rPr lang="en-IN" b="1" dirty="0"/>
              <a:t>Farmers &amp; Cooperatives:</a:t>
            </a:r>
            <a:r>
              <a:rPr lang="en-IN" dirty="0"/>
              <a:t> To make data-backed decisions on optimal crop selection, planting schedules, and irrigation method adoption. </a:t>
            </a:r>
          </a:p>
          <a:p>
            <a:pPr lvl="0"/>
            <a:r>
              <a:rPr lang="en-IN" b="1" dirty="0"/>
              <a:t>Agri-Tech &amp; Financial Institutions:</a:t>
            </a:r>
            <a:r>
              <a:rPr lang="en-IN" dirty="0"/>
              <a:t> To evaluate farm credit risk, build insurance models, and forecast regional yield expectations. 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Programming Language:</a:t>
            </a:r>
            <a:r>
              <a:rPr lang="en-IN" dirty="0"/>
              <a:t> Python 3.x</a:t>
            </a:r>
          </a:p>
          <a:p>
            <a:pPr lvl="0"/>
            <a:r>
              <a:rPr lang="en-IN" b="1" dirty="0"/>
              <a:t>Data Manipulation:</a:t>
            </a:r>
            <a:r>
              <a:rPr lang="en-IN" dirty="0"/>
              <a:t> Pandas, NumPy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Matplotlib, Seaborn</a:t>
            </a:r>
          </a:p>
          <a:p>
            <a:pPr lvl="0"/>
            <a:r>
              <a:rPr lang="en-IN" b="1" dirty="0"/>
              <a:t>Development Environment:</a:t>
            </a:r>
            <a:r>
              <a:rPr lang="en-IN" dirty="0"/>
              <a:t> Google </a:t>
            </a:r>
            <a:r>
              <a:rPr lang="en-IN" dirty="0" err="1"/>
              <a:t>Colab</a:t>
            </a:r>
            <a:r>
              <a:rPr lang="en-IN" dirty="0"/>
              <a:t> / Visual Studio Code</a:t>
            </a:r>
          </a:p>
          <a:p>
            <a:pPr lvl="0"/>
            <a:r>
              <a:rPr lang="en-IN" b="1" dirty="0"/>
              <a:t>Version Control &amp; Repository:</a:t>
            </a:r>
            <a:r>
              <a:rPr lang="en-IN" dirty="0"/>
              <a:t> GitHub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8" y="370589"/>
            <a:ext cx="2533774" cy="66607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4420A-9025-BFEB-2FB6-F03A3C4A23F0}"/>
              </a:ext>
            </a:extLst>
          </p:cNvPr>
          <p:cNvSpPr txBox="1"/>
          <p:nvPr/>
        </p:nvSpPr>
        <p:spPr>
          <a:xfrm>
            <a:off x="1" y="1408922"/>
            <a:ext cx="54024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Data Quality &amp; Hygiene: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Detected and resolved </a:t>
            </a:r>
            <a:r>
              <a:rPr lang="en-IN" b="1" dirty="0"/>
              <a:t>120 missing values</a:t>
            </a:r>
            <a:r>
              <a:rPr lang="en-IN" dirty="0"/>
              <a:t> (</a:t>
            </a:r>
            <a:r>
              <a:rPr lang="en-IN" dirty="0" err="1"/>
              <a:t>Rainfall_mm</a:t>
            </a:r>
            <a:r>
              <a:rPr lang="en-IN" dirty="0"/>
              <a:t>: 48, </a:t>
            </a:r>
            <a:r>
              <a:rPr lang="en-IN" dirty="0" err="1"/>
              <a:t>Soil_Moisture_pct</a:t>
            </a:r>
            <a:r>
              <a:rPr lang="en-IN" dirty="0"/>
              <a:t>: 40, </a:t>
            </a:r>
            <a:r>
              <a:rPr lang="en-IN" dirty="0" err="1"/>
              <a:t>Yield_Tonnes_Ha</a:t>
            </a:r>
            <a:r>
              <a:rPr lang="en-IN" dirty="0"/>
              <a:t>: 32) using median imputation.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Confirmed </a:t>
            </a:r>
            <a:r>
              <a:rPr lang="en-IN" b="1" dirty="0"/>
              <a:t>0 duplicate records</a:t>
            </a:r>
            <a:r>
              <a:rPr lang="en-IN" dirty="0"/>
              <a:t>, ensuring high dataset integrity.</a:t>
            </a:r>
          </a:p>
          <a:p>
            <a:pPr lvl="1"/>
            <a:endParaRPr lang="en-IN" dirty="0"/>
          </a:p>
          <a:p>
            <a:pPr lvl="0"/>
            <a:r>
              <a:rPr lang="en-IN" b="1" dirty="0"/>
              <a:t>Seasonal Record Breakdown: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Kharif Season:</a:t>
            </a:r>
            <a:r>
              <a:rPr lang="en-IN" dirty="0"/>
              <a:t> Dominates the dataset with </a:t>
            </a:r>
            <a:r>
              <a:rPr lang="en-IN" b="1" dirty="0"/>
              <a:t>1,779 records (44.5%)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Rabi Season:</a:t>
            </a:r>
            <a:r>
              <a:rPr lang="en-IN" dirty="0"/>
              <a:t> Represents </a:t>
            </a:r>
            <a:r>
              <a:rPr lang="en-IN" b="1" dirty="0"/>
              <a:t>1,627 records (40.7%)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Zaid Season:</a:t>
            </a:r>
            <a:r>
              <a:rPr lang="en-IN" dirty="0"/>
              <a:t> Accounts for </a:t>
            </a:r>
            <a:r>
              <a:rPr lang="en-IN" b="1" dirty="0"/>
              <a:t>594 records (14.8%)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94E840-F369-1958-F6D2-E8FA8F2B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388" y="1506325"/>
            <a:ext cx="5182049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2"/>
            <a:ext cx="4275138" cy="474005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Kharif (Monsoon Season):</a:t>
            </a:r>
            <a:endParaRPr lang="en-IN" dirty="0"/>
          </a:p>
          <a:p>
            <a:pPr lvl="1"/>
            <a:r>
              <a:rPr lang="en-IN" dirty="0"/>
              <a:t>Achieved the highest average profit (</a:t>
            </a:r>
            <a:r>
              <a:rPr lang="en-IN" b="1" dirty="0"/>
              <a:t>₹1,78,914.65</a:t>
            </a:r>
            <a:r>
              <a:rPr lang="en-IN" dirty="0"/>
              <a:t>) and yield (</a:t>
            </a:r>
            <a:r>
              <a:rPr lang="en-IN" b="1" dirty="0"/>
              <a:t>5.63 Tonnes/Ha</a:t>
            </a:r>
            <a:r>
              <a:rPr lang="en-IN" dirty="0"/>
              <a:t>), driven by high average rainfall (</a:t>
            </a:r>
            <a:r>
              <a:rPr lang="en-IN" b="1" dirty="0"/>
              <a:t>849.20 mm</a:t>
            </a:r>
            <a:r>
              <a:rPr lang="en-IN" dirty="0"/>
              <a:t>).</a:t>
            </a:r>
          </a:p>
          <a:p>
            <a:pPr lvl="0"/>
            <a:r>
              <a:rPr lang="en-IN" b="1" dirty="0"/>
              <a:t>Rabi (Winter Season):</a:t>
            </a:r>
            <a:endParaRPr lang="en-IN" dirty="0"/>
          </a:p>
          <a:p>
            <a:pPr lvl="1"/>
            <a:r>
              <a:rPr lang="en-IN" dirty="0"/>
              <a:t>Delivered steady financial returns with an average profit of </a:t>
            </a:r>
            <a:r>
              <a:rPr lang="en-IN" b="1" dirty="0"/>
              <a:t>₹87,689.47</a:t>
            </a:r>
            <a:r>
              <a:rPr lang="en-IN" dirty="0"/>
              <a:t> and yield of </a:t>
            </a:r>
            <a:r>
              <a:rPr lang="en-IN" b="1" dirty="0"/>
              <a:t>5.04 Tonnes/Ha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Zaid (Summer Season):</a:t>
            </a:r>
            <a:endParaRPr lang="en-IN" dirty="0"/>
          </a:p>
          <a:p>
            <a:pPr lvl="1"/>
            <a:r>
              <a:rPr lang="en-IN" dirty="0"/>
              <a:t>Generated a net average loss (</a:t>
            </a:r>
            <a:r>
              <a:rPr lang="en-IN" b="1" dirty="0"/>
              <a:t>-₹24,804.82</a:t>
            </a:r>
            <a:r>
              <a:rPr lang="en-IN" dirty="0"/>
              <a:t>) and lowest yield (</a:t>
            </a:r>
            <a:r>
              <a:rPr lang="en-IN" b="1" dirty="0"/>
              <a:t>4.64 Tonnes/Ha</a:t>
            </a:r>
            <a:r>
              <a:rPr lang="en-IN" dirty="0"/>
              <a:t>) due to extreme heat stress and heavy water demand (</a:t>
            </a:r>
            <a:r>
              <a:rPr lang="en-IN" b="1" dirty="0"/>
              <a:t>6,419.89 m³</a:t>
            </a:r>
            <a:r>
              <a:rPr lang="en-IN" dirty="0"/>
              <a:t>).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004C3-20F9-F435-A00B-230759D0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302" y="786087"/>
            <a:ext cx="6543238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B6E3B1C7-6A8B-23EE-6251-DC1067C6ADE9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807164" y="1431693"/>
                <a:ext cx="4275138" cy="4950446"/>
              </a:xfrm>
            </p:spPr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IN" b="1" dirty="0"/>
                  <a:t>Irrigation Method Impact:</a:t>
                </a:r>
                <a:endParaRPr lang="en-IN" dirty="0"/>
              </a:p>
              <a:p>
                <a:pPr lvl="1"/>
                <a:r>
                  <a:rPr lang="en-IN" b="1" dirty="0"/>
                  <a:t>Drip Irrigation</a:t>
                </a:r>
                <a:r>
                  <a:rPr lang="en-IN" dirty="0"/>
                  <a:t> yielded the highest average net profit (</a:t>
                </a:r>
                <a:r>
                  <a:rPr lang="en-IN" b="1" dirty="0"/>
                  <a:t>₹2,19,626</a:t>
                </a:r>
                <a:r>
                  <a:rPr lang="en-IN" dirty="0"/>
                  <a:t>) and superior water efficiency (</a:t>
                </a:r>
                <a:r>
                  <a:rPr lang="en-IN" b="1" dirty="0"/>
                  <a:t>6.27 tonnes/1000m³</a:t>
                </a:r>
                <a:r>
                  <a:rPr lang="en-IN" dirty="0"/>
                  <a:t>).</a:t>
                </a:r>
              </a:p>
              <a:p>
                <a:pPr lvl="1"/>
                <a:r>
                  <a:rPr lang="en-IN" b="1" dirty="0"/>
                  <a:t>Flood Irrigation</a:t>
                </a:r>
                <a:r>
                  <a:rPr lang="en-IN" dirty="0"/>
                  <a:t> resulted in lower average profits (</a:t>
                </a:r>
                <a:r>
                  <a:rPr lang="en-IN" b="1" dirty="0"/>
                  <a:t>₹73,354</a:t>
                </a:r>
                <a:r>
                  <a:rPr lang="en-IN" dirty="0"/>
                  <a:t>), highlighting resource wastage.</a:t>
                </a:r>
              </a:p>
              <a:p>
                <a:pPr lvl="0"/>
                <a:r>
                  <a:rPr lang="en-IN" b="1" dirty="0"/>
                  <a:t>Disease &amp; Pest Risk Insights:</a:t>
                </a:r>
                <a:endParaRPr lang="en-IN" dirty="0"/>
              </a:p>
              <a:p>
                <a:pPr lvl="1"/>
                <a:r>
                  <a:rPr lang="en-IN" dirty="0"/>
                  <a:t>Kharif season showed the highest disease risk (</a:t>
                </a:r>
                <a:r>
                  <a:rPr lang="en-IN" b="1" dirty="0"/>
                  <a:t>54.47%</a:t>
                </a:r>
                <a:r>
                  <a:rPr lang="en-IN" dirty="0"/>
                  <a:t>) due to prolonged moisture and humidity.</a:t>
                </a:r>
              </a:p>
              <a:p>
                <a:pPr lvl="0"/>
                <a:r>
                  <a:rPr lang="en-IN" b="1" dirty="0"/>
                  <a:t>Profit Correlations:</a:t>
                </a:r>
                <a:endParaRPr lang="en-IN" dirty="0"/>
              </a:p>
              <a:p>
                <a:pPr lvl="1"/>
                <a:r>
                  <a:rPr lang="en-IN" dirty="0"/>
                  <a:t>Strong positive correlation between Net Profit and Revenue (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r>
                      <a:rPr lang="en-IN"/>
                      <m:t>=0.89</m:t>
                    </m:r>
                  </m:oMath>
                </a14:m>
                <a:r>
                  <a:rPr lang="en-IN" dirty="0"/>
                  <a:t>), Production (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r>
                      <a:rPr lang="en-IN"/>
                      <m:t>=0.55</m:t>
                    </m:r>
                  </m:oMath>
                </a14:m>
                <a:r>
                  <a:rPr lang="en-IN" dirty="0"/>
                  <a:t>), and Yield (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r>
                      <a:rPr lang="en-IN"/>
                      <m:t>=0.49</m:t>
                    </m:r>
                  </m:oMath>
                </a14:m>
                <a:r>
                  <a:rPr lang="en-IN" dirty="0"/>
                  <a:t>).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B6E3B1C7-6A8B-23EE-6251-DC1067C6A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807164" y="1431693"/>
                <a:ext cx="4275138" cy="4950446"/>
              </a:xfrm>
              <a:blipFill>
                <a:blip r:embed="rId3"/>
                <a:stretch>
                  <a:fillRect l="-427" t="-1232" r="-2137" b="-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37C91CA-35E7-7783-3AF0-3C60A00F9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588" y="986672"/>
            <a:ext cx="6531430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1930CE-6995-7BD5-3A44-CACFEE7D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162" y="1086637"/>
            <a:ext cx="7209145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4" y="-123933"/>
            <a:ext cx="8934574" cy="788909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(Code Screenshot)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F4C95-8D0B-7CD9-4003-F000B5B2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42" y="761497"/>
            <a:ext cx="10590440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55EE80-4EFE-EDA1-25C2-F59F9B6F4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2" y="449322"/>
            <a:ext cx="9199452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67636" y="1201586"/>
            <a:ext cx="9214904" cy="3352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IN" sz="2000" b="1" dirty="0"/>
          </a:p>
          <a:p>
            <a:pPr lvl="0"/>
            <a:r>
              <a:rPr lang="en-IN" sz="2000" b="1" dirty="0"/>
              <a:t>Predictive Yield </a:t>
            </a:r>
            <a:r>
              <a:rPr lang="en-IN" sz="2000" b="1" dirty="0" err="1"/>
              <a:t>Modeling</a:t>
            </a:r>
            <a:r>
              <a:rPr lang="en-IN" sz="2000" b="1" dirty="0"/>
              <a:t>:</a:t>
            </a:r>
            <a:r>
              <a:rPr lang="en-IN" sz="2000" dirty="0"/>
              <a:t> Implement Supervised Machine Learning algorithms (Random Forest, </a:t>
            </a:r>
            <a:r>
              <a:rPr lang="en-IN" sz="2000" dirty="0" err="1"/>
              <a:t>XGBoost</a:t>
            </a:r>
            <a:r>
              <a:rPr lang="en-IN" sz="2000" dirty="0"/>
              <a:t>) to predict profit before sowing.</a:t>
            </a:r>
          </a:p>
          <a:p>
            <a:pPr lvl="0"/>
            <a:r>
              <a:rPr lang="en-IN" sz="2000" b="1" dirty="0"/>
              <a:t>Interactive Web Dashboard:</a:t>
            </a:r>
            <a:r>
              <a:rPr lang="en-IN" sz="2000" dirty="0"/>
              <a:t> Build a </a:t>
            </a:r>
            <a:r>
              <a:rPr lang="en-IN" sz="2000" dirty="0" err="1"/>
              <a:t>Streamlit</a:t>
            </a:r>
            <a:r>
              <a:rPr lang="en-IN" sz="2000" dirty="0"/>
              <a:t> or Power BI dashboard allowing farmers to filter inputs by district and soil type.</a:t>
            </a:r>
          </a:p>
          <a:p>
            <a:pPr lvl="0"/>
            <a:r>
              <a:rPr lang="en-IN" sz="2000" b="1" dirty="0"/>
              <a:t>Real-time Advisory API:</a:t>
            </a:r>
            <a:r>
              <a:rPr lang="en-IN" sz="2000" dirty="0"/>
              <a:t> Integrate live weather forecasting and soil sensor metrics for dynamic crop recommendations.</a:t>
            </a:r>
          </a:p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https://github.com/SharmaYashika-bot/Seasonal-Agriculture-Performance-Analysis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D737E-E460-918D-0CE2-9E271897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11" y="1358926"/>
            <a:ext cx="8748518" cy="520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1471</TotalTime>
  <Words>673</Words>
  <Application>Microsoft Office PowerPoint</Application>
  <PresentationFormat>Widescreen</PresentationFormat>
  <Paragraphs>55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  Student Name- Yashika  College Name- Sri Guru Tegh Bahadur Institute of Management and Information Technology(GGSIPU)  </vt:lpstr>
      <vt:lpstr>PROBLEM  STATEMENT</vt:lpstr>
      <vt:lpstr>Project Description  Overview: A Python-based Data Analytics project evaluating seasonal crop yield, operational expenditures, and revenue metrics.  Dataset Scale: 4,000 distinct farm records across 28 analytical features.  Key Analytical Phases: .Data Cleaning &amp; Imputation (handling missing values in   environmental metrics). .Univariate &amp; Bivariate Exploratory Data Analysis (EDA).  .Seasonal Performance &amp; Efficiency Comparisons.  .Correlation Matrix &amp; Factor Identification.  </vt:lpstr>
      <vt:lpstr>WHO ARE THE END USERS?</vt:lpstr>
      <vt:lpstr>Technology Used</vt:lpstr>
      <vt:lpstr>RESULTS </vt:lpstr>
      <vt:lpstr>RESULTS </vt:lpstr>
      <vt:lpstr>RESULTS </vt:lpstr>
      <vt:lpstr>RESULTS </vt:lpstr>
      <vt:lpstr>RESULTS (Code Screenshot)</vt:lpstr>
      <vt:lpstr>PowerPoint Presentation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abhisheksharma11092000@outlook.com</cp:lastModifiedBy>
  <cp:revision>99</cp:revision>
  <dcterms:created xsi:type="dcterms:W3CDTF">2021-07-11T13:13:15Z</dcterms:created>
  <dcterms:modified xsi:type="dcterms:W3CDTF">2026-09-05T15:19:33Z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